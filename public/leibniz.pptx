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OktPNC4t9MxsPnlDEq5sCQGVH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7" Type="http://customschemas.google.com/relationships/presentationmetadata" Target="metadata"/><Relationship Id="rId16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5.png"/><Relationship Id="rId13" Type="http://schemas.openxmlformats.org/officeDocument/2006/relationships/image" Target="../media/image13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2.png"/><Relationship Id="rId15" Type="http://schemas.openxmlformats.org/officeDocument/2006/relationships/image" Target="../media/image18.png"/><Relationship Id="rId1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CCE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863261">
            <a:off x="-409526" y="247955"/>
            <a:ext cx="3733008" cy="1337096"/>
          </a:xfrm>
          <a:custGeom>
            <a:rect b="b" l="l" r="r" t="t"/>
            <a:pathLst>
              <a:path extrusionOk="0" h="1337096" w="3733008">
                <a:moveTo>
                  <a:pt x="0" y="0"/>
                </a:moveTo>
                <a:lnTo>
                  <a:pt x="3733008" y="0"/>
                </a:lnTo>
                <a:lnTo>
                  <a:pt x="3733008" y="1337095"/>
                </a:lnTo>
                <a:lnTo>
                  <a:pt x="0" y="1337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 rot="-1509563">
            <a:off x="3371218" y="52099"/>
            <a:ext cx="4611276" cy="1651675"/>
          </a:xfrm>
          <a:custGeom>
            <a:rect b="b" l="l" r="r" t="t"/>
            <a:pathLst>
              <a:path extrusionOk="0" h="1651675" w="4611276">
                <a:moveTo>
                  <a:pt x="0" y="0"/>
                </a:moveTo>
                <a:lnTo>
                  <a:pt x="4611276" y="0"/>
                </a:lnTo>
                <a:lnTo>
                  <a:pt x="4611276" y="1651676"/>
                </a:lnTo>
                <a:lnTo>
                  <a:pt x="0" y="1651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1274678">
            <a:off x="6274775" y="2166082"/>
            <a:ext cx="6531527" cy="1187550"/>
          </a:xfrm>
          <a:custGeom>
            <a:rect b="b" l="l" r="r" t="t"/>
            <a:pathLst>
              <a:path extrusionOk="0" h="1187550" w="6531527">
                <a:moveTo>
                  <a:pt x="0" y="0"/>
                </a:moveTo>
                <a:lnTo>
                  <a:pt x="6531527" y="0"/>
                </a:lnTo>
                <a:lnTo>
                  <a:pt x="6531527" y="1187550"/>
                </a:lnTo>
                <a:lnTo>
                  <a:pt x="0" y="1187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 rot="126585">
            <a:off x="8531790" y="4635473"/>
            <a:ext cx="5644745" cy="1016054"/>
          </a:xfrm>
          <a:custGeom>
            <a:rect b="b" l="l" r="r" t="t"/>
            <a:pathLst>
              <a:path extrusionOk="0" h="1016054" w="5644745">
                <a:moveTo>
                  <a:pt x="0" y="0"/>
                </a:moveTo>
                <a:lnTo>
                  <a:pt x="5644745" y="0"/>
                </a:lnTo>
                <a:lnTo>
                  <a:pt x="5644745" y="1016054"/>
                </a:lnTo>
                <a:lnTo>
                  <a:pt x="0" y="1016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 rot="1030916">
            <a:off x="13720057" y="3592204"/>
            <a:ext cx="5859269" cy="1214467"/>
          </a:xfrm>
          <a:custGeom>
            <a:rect b="b" l="l" r="r" t="t"/>
            <a:pathLst>
              <a:path extrusionOk="0" h="1214467" w="5859269">
                <a:moveTo>
                  <a:pt x="0" y="0"/>
                </a:moveTo>
                <a:lnTo>
                  <a:pt x="5859269" y="0"/>
                </a:lnTo>
                <a:lnTo>
                  <a:pt x="5859269" y="1214467"/>
                </a:lnTo>
                <a:lnTo>
                  <a:pt x="0" y="12144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rot="-1264820">
            <a:off x="12034173" y="1509430"/>
            <a:ext cx="2580495" cy="1036890"/>
          </a:xfrm>
          <a:custGeom>
            <a:rect b="b" l="l" r="r" t="t"/>
            <a:pathLst>
              <a:path extrusionOk="0" h="1036890" w="2580495">
                <a:moveTo>
                  <a:pt x="0" y="0"/>
                </a:moveTo>
                <a:lnTo>
                  <a:pt x="2580495" y="0"/>
                </a:lnTo>
                <a:lnTo>
                  <a:pt x="2580495" y="1036890"/>
                </a:lnTo>
                <a:lnTo>
                  <a:pt x="0" y="1036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 rot="419321">
            <a:off x="3469661" y="3294221"/>
            <a:ext cx="5253948" cy="955263"/>
          </a:xfrm>
          <a:custGeom>
            <a:rect b="b" l="l" r="r" t="t"/>
            <a:pathLst>
              <a:path extrusionOk="0" h="955263" w="5253948">
                <a:moveTo>
                  <a:pt x="0" y="0"/>
                </a:moveTo>
                <a:lnTo>
                  <a:pt x="5253948" y="0"/>
                </a:lnTo>
                <a:lnTo>
                  <a:pt x="5253948" y="955263"/>
                </a:lnTo>
                <a:lnTo>
                  <a:pt x="0" y="9552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 rot="1025330">
            <a:off x="14495753" y="-569643"/>
            <a:ext cx="3107089" cy="1858604"/>
          </a:xfrm>
          <a:custGeom>
            <a:rect b="b" l="l" r="r" t="t"/>
            <a:pathLst>
              <a:path extrusionOk="0" h="1858604" w="3107089">
                <a:moveTo>
                  <a:pt x="0" y="0"/>
                </a:moveTo>
                <a:lnTo>
                  <a:pt x="3107088" y="0"/>
                </a:lnTo>
                <a:lnTo>
                  <a:pt x="3107088" y="1858604"/>
                </a:lnTo>
                <a:lnTo>
                  <a:pt x="0" y="1858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 rot="1076496">
            <a:off x="15255005" y="5527826"/>
            <a:ext cx="4833091" cy="1256604"/>
          </a:xfrm>
          <a:custGeom>
            <a:rect b="b" l="l" r="r" t="t"/>
            <a:pathLst>
              <a:path extrusionOk="0" h="1256604" w="4833091">
                <a:moveTo>
                  <a:pt x="0" y="0"/>
                </a:moveTo>
                <a:lnTo>
                  <a:pt x="4833091" y="0"/>
                </a:lnTo>
                <a:lnTo>
                  <a:pt x="4833091" y="1256604"/>
                </a:lnTo>
                <a:lnTo>
                  <a:pt x="0" y="1256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9144000" y="-522318"/>
            <a:ext cx="3982471" cy="2034681"/>
          </a:xfrm>
          <a:custGeom>
            <a:rect b="b" l="l" r="r" t="t"/>
            <a:pathLst>
              <a:path extrusionOk="0" h="2034681" w="3982471">
                <a:moveTo>
                  <a:pt x="0" y="0"/>
                </a:moveTo>
                <a:lnTo>
                  <a:pt x="3982471" y="0"/>
                </a:lnTo>
                <a:lnTo>
                  <a:pt x="3982471" y="2034681"/>
                </a:lnTo>
                <a:lnTo>
                  <a:pt x="0" y="2034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9858638" y="6020206"/>
            <a:ext cx="3267833" cy="1313075"/>
          </a:xfrm>
          <a:custGeom>
            <a:rect b="b" l="l" r="r" t="t"/>
            <a:pathLst>
              <a:path extrusionOk="0" h="1313075" w="3267833">
                <a:moveTo>
                  <a:pt x="0" y="0"/>
                </a:moveTo>
                <a:lnTo>
                  <a:pt x="3267833" y="0"/>
                </a:lnTo>
                <a:lnTo>
                  <a:pt x="3267833" y="1313074"/>
                </a:lnTo>
                <a:lnTo>
                  <a:pt x="0" y="1313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 rot="708653">
            <a:off x="489305" y="6976870"/>
            <a:ext cx="3127285" cy="1882057"/>
          </a:xfrm>
          <a:custGeom>
            <a:rect b="b" l="l" r="r" t="t"/>
            <a:pathLst>
              <a:path extrusionOk="0" h="1882057" w="3127285">
                <a:moveTo>
                  <a:pt x="0" y="0"/>
                </a:moveTo>
                <a:lnTo>
                  <a:pt x="3127285" y="0"/>
                </a:lnTo>
                <a:lnTo>
                  <a:pt x="3127285" y="1882057"/>
                </a:lnTo>
                <a:lnTo>
                  <a:pt x="0" y="18820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 rot="-884488">
            <a:off x="4162797" y="6520755"/>
            <a:ext cx="5257517" cy="1625051"/>
          </a:xfrm>
          <a:custGeom>
            <a:rect b="b" l="l" r="r" t="t"/>
            <a:pathLst>
              <a:path extrusionOk="0" h="1625051" w="5257517">
                <a:moveTo>
                  <a:pt x="0" y="0"/>
                </a:moveTo>
                <a:lnTo>
                  <a:pt x="5257517" y="0"/>
                </a:lnTo>
                <a:lnTo>
                  <a:pt x="5257517" y="1625051"/>
                </a:lnTo>
                <a:lnTo>
                  <a:pt x="0" y="1625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 rot="888533">
            <a:off x="3288859" y="5083964"/>
            <a:ext cx="4726456" cy="1005446"/>
          </a:xfrm>
          <a:custGeom>
            <a:rect b="b" l="l" r="r" t="t"/>
            <a:pathLst>
              <a:path extrusionOk="0" h="1005446" w="4726456">
                <a:moveTo>
                  <a:pt x="0" y="0"/>
                </a:moveTo>
                <a:lnTo>
                  <a:pt x="4726456" y="0"/>
                </a:lnTo>
                <a:lnTo>
                  <a:pt x="4726456" y="1005447"/>
                </a:lnTo>
                <a:lnTo>
                  <a:pt x="0" y="10054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 rot="-1048089">
            <a:off x="-25063" y="2404642"/>
            <a:ext cx="3032618" cy="2007042"/>
          </a:xfrm>
          <a:custGeom>
            <a:rect b="b" l="l" r="r" t="t"/>
            <a:pathLst>
              <a:path extrusionOk="0" h="2007042" w="3032618">
                <a:moveTo>
                  <a:pt x="0" y="0"/>
                </a:moveTo>
                <a:lnTo>
                  <a:pt x="3032619" y="0"/>
                </a:lnTo>
                <a:lnTo>
                  <a:pt x="3032619" y="2007042"/>
                </a:lnTo>
                <a:lnTo>
                  <a:pt x="0" y="2007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/>
          <p:nvPr/>
        </p:nvSpPr>
        <p:spPr>
          <a:xfrm rot="1274678">
            <a:off x="-986475" y="5739692"/>
            <a:ext cx="4580797" cy="832872"/>
          </a:xfrm>
          <a:custGeom>
            <a:rect b="b" l="l" r="r" t="t"/>
            <a:pathLst>
              <a:path extrusionOk="0" h="832872" w="4580797">
                <a:moveTo>
                  <a:pt x="0" y="0"/>
                </a:moveTo>
                <a:lnTo>
                  <a:pt x="4580797" y="0"/>
                </a:lnTo>
                <a:lnTo>
                  <a:pt x="4580797" y="832872"/>
                </a:lnTo>
                <a:lnTo>
                  <a:pt x="0" y="832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 rot="-1264820">
            <a:off x="104127" y="9284244"/>
            <a:ext cx="2030229" cy="815783"/>
          </a:xfrm>
          <a:custGeom>
            <a:rect b="b" l="l" r="r" t="t"/>
            <a:pathLst>
              <a:path extrusionOk="0" h="815783" w="2030229">
                <a:moveTo>
                  <a:pt x="0" y="0"/>
                </a:moveTo>
                <a:lnTo>
                  <a:pt x="2030229" y="0"/>
                </a:lnTo>
                <a:lnTo>
                  <a:pt x="2030229" y="815783"/>
                </a:lnTo>
                <a:lnTo>
                  <a:pt x="0" y="815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13583671" y="6753288"/>
            <a:ext cx="3982471" cy="2034681"/>
          </a:xfrm>
          <a:custGeom>
            <a:rect b="b" l="l" r="r" t="t"/>
            <a:pathLst>
              <a:path extrusionOk="0" h="2034681" w="3982471">
                <a:moveTo>
                  <a:pt x="0" y="0"/>
                </a:moveTo>
                <a:lnTo>
                  <a:pt x="3982472" y="0"/>
                </a:lnTo>
                <a:lnTo>
                  <a:pt x="3982472" y="2034681"/>
                </a:lnTo>
                <a:lnTo>
                  <a:pt x="0" y="2034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 rot="-1387728">
            <a:off x="14349910" y="8792028"/>
            <a:ext cx="5253948" cy="955263"/>
          </a:xfrm>
          <a:custGeom>
            <a:rect b="b" l="l" r="r" t="t"/>
            <a:pathLst>
              <a:path extrusionOk="0" h="955263" w="5253948">
                <a:moveTo>
                  <a:pt x="0" y="0"/>
                </a:moveTo>
                <a:lnTo>
                  <a:pt x="5253949" y="0"/>
                </a:lnTo>
                <a:lnTo>
                  <a:pt x="5253949" y="955263"/>
                </a:lnTo>
                <a:lnTo>
                  <a:pt x="0" y="9552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"/>
          <p:cNvSpPr/>
          <p:nvPr/>
        </p:nvSpPr>
        <p:spPr>
          <a:xfrm>
            <a:off x="3238862" y="9269660"/>
            <a:ext cx="3982471" cy="2034681"/>
          </a:xfrm>
          <a:custGeom>
            <a:rect b="b" l="l" r="r" t="t"/>
            <a:pathLst>
              <a:path extrusionOk="0" h="2034681" w="3982471">
                <a:moveTo>
                  <a:pt x="0" y="0"/>
                </a:moveTo>
                <a:lnTo>
                  <a:pt x="3982472" y="0"/>
                </a:lnTo>
                <a:lnTo>
                  <a:pt x="3982472" y="2034680"/>
                </a:lnTo>
                <a:lnTo>
                  <a:pt x="0" y="2034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1"/>
          <p:cNvSpPr/>
          <p:nvPr/>
        </p:nvSpPr>
        <p:spPr>
          <a:xfrm rot="863261">
            <a:off x="10352735" y="9023587"/>
            <a:ext cx="3733008" cy="1337096"/>
          </a:xfrm>
          <a:custGeom>
            <a:rect b="b" l="l" r="r" t="t"/>
            <a:pathLst>
              <a:path extrusionOk="0" h="1337096" w="3733008">
                <a:moveTo>
                  <a:pt x="0" y="0"/>
                </a:moveTo>
                <a:lnTo>
                  <a:pt x="3733007" y="0"/>
                </a:lnTo>
                <a:lnTo>
                  <a:pt x="3733007" y="1337096"/>
                </a:lnTo>
                <a:lnTo>
                  <a:pt x="0" y="13370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"/>
          <p:cNvSpPr/>
          <p:nvPr/>
        </p:nvSpPr>
        <p:spPr>
          <a:xfrm rot="1896541">
            <a:off x="6361868" y="8640609"/>
            <a:ext cx="2580495" cy="1036890"/>
          </a:xfrm>
          <a:custGeom>
            <a:rect b="b" l="l" r="r" t="t"/>
            <a:pathLst>
              <a:path extrusionOk="0" h="1036890" w="2580495">
                <a:moveTo>
                  <a:pt x="0" y="0"/>
                </a:moveTo>
                <a:lnTo>
                  <a:pt x="2580495" y="0"/>
                </a:lnTo>
                <a:lnTo>
                  <a:pt x="2580495" y="1036890"/>
                </a:lnTo>
                <a:lnTo>
                  <a:pt x="0" y="1036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"/>
          <p:cNvSpPr/>
          <p:nvPr/>
        </p:nvSpPr>
        <p:spPr>
          <a:xfrm rot="-587126">
            <a:off x="8575292" y="7671617"/>
            <a:ext cx="4362312" cy="927983"/>
          </a:xfrm>
          <a:custGeom>
            <a:rect b="b" l="l" r="r" t="t"/>
            <a:pathLst>
              <a:path extrusionOk="0" h="927983" w="4362312">
                <a:moveTo>
                  <a:pt x="0" y="0"/>
                </a:moveTo>
                <a:lnTo>
                  <a:pt x="4362312" y="0"/>
                </a:lnTo>
                <a:lnTo>
                  <a:pt x="4362312" y="927983"/>
                </a:lnTo>
                <a:lnTo>
                  <a:pt x="0" y="927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"/>
          <p:cNvSpPr/>
          <p:nvPr/>
        </p:nvSpPr>
        <p:spPr>
          <a:xfrm rot="708653">
            <a:off x="16189707" y="1850930"/>
            <a:ext cx="2752872" cy="1656728"/>
          </a:xfrm>
          <a:custGeom>
            <a:rect b="b" l="l" r="r" t="t"/>
            <a:pathLst>
              <a:path extrusionOk="0" h="1656728" w="2752872">
                <a:moveTo>
                  <a:pt x="0" y="0"/>
                </a:moveTo>
                <a:lnTo>
                  <a:pt x="2752872" y="0"/>
                </a:lnTo>
                <a:lnTo>
                  <a:pt x="2752872" y="1656728"/>
                </a:lnTo>
                <a:lnTo>
                  <a:pt x="0" y="1656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8" name="Google Shape;108;p1"/>
          <p:cNvGrpSpPr/>
          <p:nvPr/>
        </p:nvGrpSpPr>
        <p:grpSpPr>
          <a:xfrm>
            <a:off x="2016356" y="1015792"/>
            <a:ext cx="14255288" cy="7566759"/>
            <a:chOff x="0" y="-76200"/>
            <a:chExt cx="1577351" cy="837264"/>
          </a:xfrm>
        </p:grpSpPr>
        <p:sp>
          <p:nvSpPr>
            <p:cNvPr id="109" name="Google Shape;109;p1"/>
            <p:cNvSpPr/>
            <p:nvPr/>
          </p:nvSpPr>
          <p:spPr>
            <a:xfrm>
              <a:off x="0" y="0"/>
              <a:ext cx="1577351" cy="761064"/>
            </a:xfrm>
            <a:custGeom>
              <a:rect b="b" l="l" r="r" t="t"/>
              <a:pathLst>
                <a:path extrusionOk="0" h="761064" w="1577351">
                  <a:moveTo>
                    <a:pt x="10862" y="0"/>
                  </a:moveTo>
                  <a:lnTo>
                    <a:pt x="1566489" y="0"/>
                  </a:lnTo>
                  <a:cubicBezTo>
                    <a:pt x="1569370" y="0"/>
                    <a:pt x="1572133" y="1144"/>
                    <a:pt x="1574170" y="3181"/>
                  </a:cubicBezTo>
                  <a:cubicBezTo>
                    <a:pt x="1576207" y="5218"/>
                    <a:pt x="1577351" y="7981"/>
                    <a:pt x="1577351" y="10862"/>
                  </a:cubicBezTo>
                  <a:lnTo>
                    <a:pt x="1577351" y="750202"/>
                  </a:lnTo>
                  <a:cubicBezTo>
                    <a:pt x="1577351" y="753083"/>
                    <a:pt x="1576207" y="755845"/>
                    <a:pt x="1574170" y="757882"/>
                  </a:cubicBezTo>
                  <a:cubicBezTo>
                    <a:pt x="1572133" y="759919"/>
                    <a:pt x="1569370" y="761064"/>
                    <a:pt x="1566489" y="761064"/>
                  </a:cubicBezTo>
                  <a:lnTo>
                    <a:pt x="10862" y="761064"/>
                  </a:lnTo>
                  <a:cubicBezTo>
                    <a:pt x="7981" y="761064"/>
                    <a:pt x="5218" y="759919"/>
                    <a:pt x="3181" y="757882"/>
                  </a:cubicBezTo>
                  <a:cubicBezTo>
                    <a:pt x="1144" y="755845"/>
                    <a:pt x="0" y="753083"/>
                    <a:pt x="0" y="750202"/>
                  </a:cubicBezTo>
                  <a:lnTo>
                    <a:pt x="0" y="10862"/>
                  </a:lnTo>
                  <a:cubicBezTo>
                    <a:pt x="0" y="7981"/>
                    <a:pt x="1144" y="5218"/>
                    <a:pt x="3181" y="3181"/>
                  </a:cubicBezTo>
                  <a:cubicBezTo>
                    <a:pt x="5218" y="1144"/>
                    <a:pt x="7981" y="0"/>
                    <a:pt x="10862" y="0"/>
                  </a:cubicBezTo>
                  <a:close/>
                </a:path>
              </a:pathLst>
            </a:custGeom>
            <a:solidFill>
              <a:srgbClr val="F5F5F5"/>
            </a:solidFill>
            <a:ln cap="sq" cmpd="sng" w="95250">
              <a:solidFill>
                <a:srgbClr val="1071C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"/>
            <p:cNvSpPr txBox="1"/>
            <p:nvPr/>
          </p:nvSpPr>
          <p:spPr>
            <a:xfrm>
              <a:off x="0" y="-76200"/>
              <a:ext cx="1577351" cy="837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050" lIns="67050" spcFirstLastPara="1" rIns="67050" wrap="square" tIns="67050">
              <a:noAutofit/>
            </a:bodyPr>
            <a:lstStyle/>
            <a:p>
              <a:pPr indent="0" lvl="0" marL="0" marR="0" rtl="0" algn="ctr">
                <a:lnSpc>
                  <a:spcPct val="281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"/>
          <p:cNvSpPr txBox="1"/>
          <p:nvPr/>
        </p:nvSpPr>
        <p:spPr>
          <a:xfrm>
            <a:off x="2636199" y="3437865"/>
            <a:ext cx="13015601" cy="3287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38" u="none" cap="none" strike="noStrike">
                <a:solidFill>
                  <a:srgbClr val="1071CB"/>
                </a:solidFill>
                <a:latin typeface="Roboto Mono"/>
                <a:ea typeface="Roboto Mono"/>
                <a:cs typeface="Roboto Mono"/>
                <a:sym typeface="Roboto Mono"/>
              </a:rPr>
              <a:t>LEIBNIZ E COMPUTAÇÃO: SISTEMA BINÁRIO E CONTADOR MECÂNICO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D6B5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2"/>
          <p:cNvGrpSpPr/>
          <p:nvPr/>
        </p:nvGrpSpPr>
        <p:grpSpPr>
          <a:xfrm>
            <a:off x="1028700" y="327814"/>
            <a:ext cx="16230600" cy="8832175"/>
            <a:chOff x="0" y="-66675"/>
            <a:chExt cx="1795920" cy="977282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795920" cy="910607"/>
            </a:xfrm>
            <a:custGeom>
              <a:rect b="b" l="l" r="r" t="t"/>
              <a:pathLst>
                <a:path extrusionOk="0" h="910607" w="1795920">
                  <a:moveTo>
                    <a:pt x="9540" y="0"/>
                  </a:moveTo>
                  <a:lnTo>
                    <a:pt x="1786380" y="0"/>
                  </a:lnTo>
                  <a:cubicBezTo>
                    <a:pt x="1791648" y="0"/>
                    <a:pt x="1795920" y="4271"/>
                    <a:pt x="1795920" y="9540"/>
                  </a:cubicBezTo>
                  <a:lnTo>
                    <a:pt x="1795920" y="901067"/>
                  </a:lnTo>
                  <a:cubicBezTo>
                    <a:pt x="1795920" y="903597"/>
                    <a:pt x="1794914" y="906024"/>
                    <a:pt x="1793125" y="907813"/>
                  </a:cubicBezTo>
                  <a:cubicBezTo>
                    <a:pt x="1791336" y="909602"/>
                    <a:pt x="1788910" y="910607"/>
                    <a:pt x="1786380" y="910607"/>
                  </a:cubicBezTo>
                  <a:lnTo>
                    <a:pt x="9540" y="910607"/>
                  </a:lnTo>
                  <a:cubicBezTo>
                    <a:pt x="4271" y="910607"/>
                    <a:pt x="0" y="906336"/>
                    <a:pt x="0" y="901067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F5F5F5"/>
            </a:solidFill>
            <a:ln cap="sq" cmpd="sng" w="95250">
              <a:solidFill>
                <a:srgbClr val="43793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0" y="-66675"/>
              <a:ext cx="1795920" cy="977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050" lIns="67050" spcFirstLastPara="1" rIns="67050" wrap="square" tIns="67050">
              <a:noAutofit/>
            </a:bodyPr>
            <a:lstStyle/>
            <a:p>
              <a:pPr indent="0" lvl="0" marL="0" marR="0" rtl="0" algn="ctr">
                <a:lnSpc>
                  <a:spcPct val="281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2"/>
          <p:cNvSpPr/>
          <p:nvPr/>
        </p:nvSpPr>
        <p:spPr>
          <a:xfrm>
            <a:off x="11670253" y="1264148"/>
            <a:ext cx="5246370" cy="7584348"/>
          </a:xfrm>
          <a:custGeom>
            <a:rect b="b" l="l" r="r" t="t"/>
            <a:pathLst>
              <a:path extrusionOk="0" h="1175014" w="812800">
                <a:moveTo>
                  <a:pt x="33940" y="0"/>
                </a:moveTo>
                <a:lnTo>
                  <a:pt x="778860" y="0"/>
                </a:lnTo>
                <a:cubicBezTo>
                  <a:pt x="797604" y="0"/>
                  <a:pt x="812800" y="15196"/>
                  <a:pt x="812800" y="33940"/>
                </a:cubicBezTo>
                <a:lnTo>
                  <a:pt x="812800" y="1141074"/>
                </a:lnTo>
                <a:cubicBezTo>
                  <a:pt x="812800" y="1159818"/>
                  <a:pt x="797604" y="1175014"/>
                  <a:pt x="778860" y="1175014"/>
                </a:cubicBezTo>
                <a:lnTo>
                  <a:pt x="33940" y="1175014"/>
                </a:lnTo>
                <a:cubicBezTo>
                  <a:pt x="15196" y="1175014"/>
                  <a:pt x="0" y="1159818"/>
                  <a:pt x="0" y="1141074"/>
                </a:cubicBezTo>
                <a:lnTo>
                  <a:pt x="0" y="33940"/>
                </a:lnTo>
                <a:cubicBezTo>
                  <a:pt x="0" y="15196"/>
                  <a:pt x="15196" y="0"/>
                  <a:pt x="3394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546" r="-8546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379773" y="3830183"/>
            <a:ext cx="8421878" cy="390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7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Leibniz (1646–1716): matemático, filósofo e cientista alemão.</a:t>
            </a:r>
            <a:endParaRPr/>
          </a:p>
          <a:p>
            <a:pPr indent="-345439" lvl="1" marL="69087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Suas ideias anteciparam a computação moderna.</a:t>
            </a:r>
            <a:endParaRPr/>
          </a:p>
          <a:p>
            <a:pPr indent="-345439" lvl="1" marL="69087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Destaques: sistema binário e contador mecânico.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99" u="none" cap="none" strike="noStrike">
              <a:solidFill>
                <a:srgbClr val="28232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379773" y="1520219"/>
            <a:ext cx="11125226" cy="1524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76" u="none" cap="none" strike="noStrike">
                <a:solidFill>
                  <a:srgbClr val="437935"/>
                </a:solidFill>
                <a:latin typeface="Roboto Mono"/>
                <a:ea typeface="Roboto Mono"/>
                <a:cs typeface="Roboto Mono"/>
                <a:sym typeface="Roboto Mono"/>
              </a:rPr>
              <a:t>INTRODUÇÃO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CC7EB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8288000" cy="16535262"/>
          </a:xfrm>
          <a:custGeom>
            <a:rect b="b" l="l" r="r" t="t"/>
            <a:pathLst>
              <a:path extrusionOk="0" h="16535262" w="18288000">
                <a:moveTo>
                  <a:pt x="0" y="0"/>
                </a:moveTo>
                <a:lnTo>
                  <a:pt x="18288000" y="0"/>
                </a:lnTo>
                <a:lnTo>
                  <a:pt x="18288000" y="16535262"/>
                </a:lnTo>
                <a:lnTo>
                  <a:pt x="0" y="16535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7" name="Google Shape;127;p3"/>
          <p:cNvGrpSpPr/>
          <p:nvPr/>
        </p:nvGrpSpPr>
        <p:grpSpPr>
          <a:xfrm>
            <a:off x="1028700" y="327814"/>
            <a:ext cx="16230600" cy="8832175"/>
            <a:chOff x="0" y="-66675"/>
            <a:chExt cx="1795920" cy="977282"/>
          </a:xfrm>
        </p:grpSpPr>
        <p:sp>
          <p:nvSpPr>
            <p:cNvPr id="128" name="Google Shape;128;p3"/>
            <p:cNvSpPr/>
            <p:nvPr/>
          </p:nvSpPr>
          <p:spPr>
            <a:xfrm>
              <a:off x="0" y="0"/>
              <a:ext cx="1795920" cy="910607"/>
            </a:xfrm>
            <a:custGeom>
              <a:rect b="b" l="l" r="r" t="t"/>
              <a:pathLst>
                <a:path extrusionOk="0" h="910607" w="1795920">
                  <a:moveTo>
                    <a:pt x="9540" y="0"/>
                  </a:moveTo>
                  <a:lnTo>
                    <a:pt x="1786380" y="0"/>
                  </a:lnTo>
                  <a:cubicBezTo>
                    <a:pt x="1791648" y="0"/>
                    <a:pt x="1795920" y="4271"/>
                    <a:pt x="1795920" y="9540"/>
                  </a:cubicBezTo>
                  <a:lnTo>
                    <a:pt x="1795920" y="901067"/>
                  </a:lnTo>
                  <a:cubicBezTo>
                    <a:pt x="1795920" y="903597"/>
                    <a:pt x="1794914" y="906024"/>
                    <a:pt x="1793125" y="907813"/>
                  </a:cubicBezTo>
                  <a:cubicBezTo>
                    <a:pt x="1791336" y="909602"/>
                    <a:pt x="1788910" y="910607"/>
                    <a:pt x="1786380" y="910607"/>
                  </a:cubicBezTo>
                  <a:lnTo>
                    <a:pt x="9540" y="910607"/>
                  </a:lnTo>
                  <a:cubicBezTo>
                    <a:pt x="4271" y="910607"/>
                    <a:pt x="0" y="906336"/>
                    <a:pt x="0" y="901067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F5F5F5"/>
            </a:solidFill>
            <a:ln cap="sq" cmpd="sng" w="95250">
              <a:solidFill>
                <a:srgbClr val="7F59C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 txBox="1"/>
            <p:nvPr/>
          </p:nvSpPr>
          <p:spPr>
            <a:xfrm>
              <a:off x="0" y="-66675"/>
              <a:ext cx="1795920" cy="977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050" lIns="67050" spcFirstLastPara="1" rIns="67050" wrap="square" tIns="67050">
              <a:noAutofit/>
            </a:bodyPr>
            <a:lstStyle/>
            <a:p>
              <a:pPr indent="0" lvl="0" marL="0" marR="0" rtl="0" algn="ctr">
                <a:lnSpc>
                  <a:spcPct val="281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3"/>
          <p:cNvGrpSpPr/>
          <p:nvPr/>
        </p:nvGrpSpPr>
        <p:grpSpPr>
          <a:xfrm>
            <a:off x="2817975" y="3214650"/>
            <a:ext cx="12831308" cy="5147619"/>
            <a:chOff x="0" y="-38100"/>
            <a:chExt cx="3379417" cy="1108445"/>
          </a:xfrm>
        </p:grpSpPr>
        <p:sp>
          <p:nvSpPr>
            <p:cNvPr id="131" name="Google Shape;131;p3"/>
            <p:cNvSpPr/>
            <p:nvPr/>
          </p:nvSpPr>
          <p:spPr>
            <a:xfrm>
              <a:off x="0" y="0"/>
              <a:ext cx="3379417" cy="1070345"/>
            </a:xfrm>
            <a:custGeom>
              <a:rect b="b" l="l" r="r" t="t"/>
              <a:pathLst>
                <a:path extrusionOk="0" h="1070345" w="3379417">
                  <a:moveTo>
                    <a:pt x="15688" y="0"/>
                  </a:moveTo>
                  <a:lnTo>
                    <a:pt x="3363729" y="0"/>
                  </a:lnTo>
                  <a:cubicBezTo>
                    <a:pt x="3367890" y="0"/>
                    <a:pt x="3371880" y="1653"/>
                    <a:pt x="3374822" y="4595"/>
                  </a:cubicBezTo>
                  <a:cubicBezTo>
                    <a:pt x="3377764" y="7537"/>
                    <a:pt x="3379417" y="11527"/>
                    <a:pt x="3379417" y="15688"/>
                  </a:cubicBezTo>
                  <a:lnTo>
                    <a:pt x="3379417" y="1054658"/>
                  </a:lnTo>
                  <a:cubicBezTo>
                    <a:pt x="3379417" y="1058818"/>
                    <a:pt x="3377764" y="1062809"/>
                    <a:pt x="3374822" y="1065751"/>
                  </a:cubicBezTo>
                  <a:cubicBezTo>
                    <a:pt x="3371880" y="1068693"/>
                    <a:pt x="3367890" y="1070345"/>
                    <a:pt x="3363729" y="1070345"/>
                  </a:cubicBezTo>
                  <a:lnTo>
                    <a:pt x="15688" y="1070345"/>
                  </a:lnTo>
                  <a:cubicBezTo>
                    <a:pt x="11527" y="1070345"/>
                    <a:pt x="7537" y="1068693"/>
                    <a:pt x="4595" y="1065751"/>
                  </a:cubicBezTo>
                  <a:cubicBezTo>
                    <a:pt x="1653" y="1062809"/>
                    <a:pt x="0" y="1058818"/>
                    <a:pt x="0" y="1054658"/>
                  </a:cubicBezTo>
                  <a:lnTo>
                    <a:pt x="0" y="15688"/>
                  </a:lnTo>
                  <a:cubicBezTo>
                    <a:pt x="0" y="11527"/>
                    <a:pt x="1653" y="7537"/>
                    <a:pt x="4595" y="4595"/>
                  </a:cubicBezTo>
                  <a:cubicBezTo>
                    <a:pt x="7537" y="1653"/>
                    <a:pt x="11527" y="0"/>
                    <a:pt x="15688" y="0"/>
                  </a:cubicBezTo>
                  <a:close/>
                </a:path>
              </a:pathLst>
            </a:custGeom>
            <a:solidFill>
              <a:srgbClr val="DCC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 txBox="1"/>
            <p:nvPr/>
          </p:nvSpPr>
          <p:spPr>
            <a:xfrm>
              <a:off x="0" y="-38100"/>
              <a:ext cx="3379417" cy="1108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3"/>
          <p:cNvSpPr txBox="1"/>
          <p:nvPr/>
        </p:nvSpPr>
        <p:spPr>
          <a:xfrm>
            <a:off x="2817986" y="1487765"/>
            <a:ext cx="13020434" cy="107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23" u="none" cap="none" strike="noStrike">
                <a:solidFill>
                  <a:srgbClr val="7F59CB"/>
                </a:solidFill>
                <a:latin typeface="Roboto Mono"/>
                <a:ea typeface="Roboto Mono"/>
                <a:cs typeface="Roboto Mono"/>
                <a:sym typeface="Roboto Mono"/>
              </a:rPr>
              <a:t>SISTEMA BINÁRIO (1679)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3288018" y="4011220"/>
            <a:ext cx="10377040" cy="2785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7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Propôs o uso de apenas 0 e 1.</a:t>
            </a:r>
            <a:endParaRPr/>
          </a:p>
          <a:p>
            <a:pPr indent="-345439" lvl="1" marL="69087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Mais simples que o sistema decimal.</a:t>
            </a:r>
            <a:endParaRPr/>
          </a:p>
          <a:p>
            <a:pPr indent="-345439" lvl="1" marL="69087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Facilitava cálculos e operações lógicas.</a:t>
            </a:r>
            <a:endParaRPr/>
          </a:p>
          <a:p>
            <a:pPr indent="-345439" lvl="1" marL="69087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Antecipou o uso de cartões perfurados e lógica computacional.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CCE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4"/>
          <p:cNvGrpSpPr/>
          <p:nvPr/>
        </p:nvGrpSpPr>
        <p:grpSpPr>
          <a:xfrm>
            <a:off x="1028700" y="426125"/>
            <a:ext cx="16230600" cy="8832175"/>
            <a:chOff x="0" y="-66675"/>
            <a:chExt cx="1795920" cy="977282"/>
          </a:xfrm>
        </p:grpSpPr>
        <p:sp>
          <p:nvSpPr>
            <p:cNvPr id="140" name="Google Shape;140;p4"/>
            <p:cNvSpPr/>
            <p:nvPr/>
          </p:nvSpPr>
          <p:spPr>
            <a:xfrm>
              <a:off x="0" y="0"/>
              <a:ext cx="1795920" cy="910607"/>
            </a:xfrm>
            <a:custGeom>
              <a:rect b="b" l="l" r="r" t="t"/>
              <a:pathLst>
                <a:path extrusionOk="0" h="910607" w="1795920">
                  <a:moveTo>
                    <a:pt x="9540" y="0"/>
                  </a:moveTo>
                  <a:lnTo>
                    <a:pt x="1786380" y="0"/>
                  </a:lnTo>
                  <a:cubicBezTo>
                    <a:pt x="1791648" y="0"/>
                    <a:pt x="1795920" y="4271"/>
                    <a:pt x="1795920" y="9540"/>
                  </a:cubicBezTo>
                  <a:lnTo>
                    <a:pt x="1795920" y="901067"/>
                  </a:lnTo>
                  <a:cubicBezTo>
                    <a:pt x="1795920" y="903597"/>
                    <a:pt x="1794914" y="906024"/>
                    <a:pt x="1793125" y="907813"/>
                  </a:cubicBezTo>
                  <a:cubicBezTo>
                    <a:pt x="1791336" y="909602"/>
                    <a:pt x="1788910" y="910607"/>
                    <a:pt x="1786380" y="910607"/>
                  </a:cubicBezTo>
                  <a:lnTo>
                    <a:pt x="9540" y="910607"/>
                  </a:lnTo>
                  <a:cubicBezTo>
                    <a:pt x="4271" y="910607"/>
                    <a:pt x="0" y="906336"/>
                    <a:pt x="0" y="901067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F5F5F5"/>
            </a:solidFill>
            <a:ln cap="sq" cmpd="sng" w="95250">
              <a:solidFill>
                <a:srgbClr val="1D79C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0" y="-66675"/>
              <a:ext cx="1795920" cy="977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050" lIns="67050" spcFirstLastPara="1" rIns="67050" wrap="square" tIns="67050">
              <a:noAutofit/>
            </a:bodyPr>
            <a:lstStyle/>
            <a:p>
              <a:pPr indent="0" lvl="0" marL="0" marR="0" rtl="0" algn="ctr">
                <a:lnSpc>
                  <a:spcPct val="281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4"/>
          <p:cNvSpPr txBox="1"/>
          <p:nvPr/>
        </p:nvSpPr>
        <p:spPr>
          <a:xfrm>
            <a:off x="1788690" y="1891054"/>
            <a:ext cx="10113018" cy="6458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Aritmética Binária</a:t>
            </a:r>
            <a:endParaRPr/>
          </a:p>
          <a:p>
            <a:pPr indent="-360637" lvl="1" marL="721274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•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Operações simples:</a:t>
            </a:r>
            <a:endParaRPr/>
          </a:p>
          <a:p>
            <a:pPr indent="-480848" lvl="2" marL="1442548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⚬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Soma: 1+1 = 10</a:t>
            </a:r>
            <a:endParaRPr/>
          </a:p>
          <a:p>
            <a:pPr indent="-480848" lvl="2" marL="1442548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⚬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Subtração: 10-1 = 1</a:t>
            </a:r>
            <a:endParaRPr/>
          </a:p>
          <a:p>
            <a:pPr indent="-480848" lvl="2" marL="1442548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⚬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Multiplicação: 1×1 = 1</a:t>
            </a:r>
            <a:endParaRPr/>
          </a:p>
          <a:p>
            <a:pPr indent="-480848" lvl="2" marL="1442548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⚬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Divisão: baseada em comparação de blocos</a:t>
            </a:r>
            <a:endParaRPr/>
          </a:p>
          <a:p>
            <a:pPr indent="-360637" lvl="1" marL="721274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•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Exemplo: 12 + 6 = 18 (10010 binário)</a:t>
            </a:r>
            <a:endParaRPr/>
          </a:p>
          <a:p>
            <a:pPr indent="-360637" lvl="1" marL="721274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•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Ideal para lógica eletrônica dos computadores.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40" u="none" cap="none" strike="noStrike">
              <a:solidFill>
                <a:srgbClr val="28232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11901709" y="2851380"/>
            <a:ext cx="5014915" cy="4584239"/>
          </a:xfrm>
          <a:custGeom>
            <a:rect b="b" l="l" r="r" t="t"/>
            <a:pathLst>
              <a:path extrusionOk="0" h="1175014" w="1285403">
                <a:moveTo>
                  <a:pt x="35507" y="0"/>
                </a:moveTo>
                <a:lnTo>
                  <a:pt x="1249896" y="0"/>
                </a:lnTo>
                <a:cubicBezTo>
                  <a:pt x="1259313" y="0"/>
                  <a:pt x="1268344" y="3741"/>
                  <a:pt x="1275003" y="10400"/>
                </a:cubicBezTo>
                <a:cubicBezTo>
                  <a:pt x="1281662" y="17059"/>
                  <a:pt x="1285403" y="26090"/>
                  <a:pt x="1285403" y="35507"/>
                </a:cubicBezTo>
                <a:lnTo>
                  <a:pt x="1285403" y="1139507"/>
                </a:lnTo>
                <a:cubicBezTo>
                  <a:pt x="1285403" y="1148924"/>
                  <a:pt x="1281662" y="1157955"/>
                  <a:pt x="1275003" y="1164614"/>
                </a:cubicBezTo>
                <a:cubicBezTo>
                  <a:pt x="1268344" y="1171273"/>
                  <a:pt x="1259313" y="1175014"/>
                  <a:pt x="1249896" y="1175014"/>
                </a:cubicBezTo>
                <a:lnTo>
                  <a:pt x="35507" y="1175014"/>
                </a:lnTo>
                <a:cubicBezTo>
                  <a:pt x="26090" y="1175014"/>
                  <a:pt x="17059" y="1171273"/>
                  <a:pt x="10400" y="1164614"/>
                </a:cubicBezTo>
                <a:cubicBezTo>
                  <a:pt x="3741" y="1157955"/>
                  <a:pt x="0" y="1148924"/>
                  <a:pt x="0" y="1139507"/>
                </a:cubicBezTo>
                <a:lnTo>
                  <a:pt x="0" y="35507"/>
                </a:lnTo>
                <a:cubicBezTo>
                  <a:pt x="0" y="26090"/>
                  <a:pt x="3741" y="17059"/>
                  <a:pt x="10400" y="10400"/>
                </a:cubicBezTo>
                <a:cubicBezTo>
                  <a:pt x="17059" y="3741"/>
                  <a:pt x="26090" y="0"/>
                  <a:pt x="35507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04" r="-1404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CCE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5"/>
          <p:cNvGrpSpPr/>
          <p:nvPr/>
        </p:nvGrpSpPr>
        <p:grpSpPr>
          <a:xfrm>
            <a:off x="1028700" y="340043"/>
            <a:ext cx="10174123" cy="8918257"/>
            <a:chOff x="0" y="-76200"/>
            <a:chExt cx="1125769" cy="986807"/>
          </a:xfrm>
        </p:grpSpPr>
        <p:sp>
          <p:nvSpPr>
            <p:cNvPr id="149" name="Google Shape;149;p5"/>
            <p:cNvSpPr/>
            <p:nvPr/>
          </p:nvSpPr>
          <p:spPr>
            <a:xfrm>
              <a:off x="0" y="0"/>
              <a:ext cx="1125769" cy="910607"/>
            </a:xfrm>
            <a:custGeom>
              <a:rect b="b" l="l" r="r" t="t"/>
              <a:pathLst>
                <a:path extrusionOk="0" h="910607" w="1125769">
                  <a:moveTo>
                    <a:pt x="15219" y="0"/>
                  </a:moveTo>
                  <a:lnTo>
                    <a:pt x="1110550" y="0"/>
                  </a:lnTo>
                  <a:cubicBezTo>
                    <a:pt x="1118955" y="0"/>
                    <a:pt x="1125769" y="6814"/>
                    <a:pt x="1125769" y="15219"/>
                  </a:cubicBezTo>
                  <a:lnTo>
                    <a:pt x="1125769" y="895388"/>
                  </a:lnTo>
                  <a:cubicBezTo>
                    <a:pt x="1125769" y="899425"/>
                    <a:pt x="1124166" y="903296"/>
                    <a:pt x="1121312" y="906150"/>
                  </a:cubicBezTo>
                  <a:cubicBezTo>
                    <a:pt x="1118458" y="909004"/>
                    <a:pt x="1114587" y="910607"/>
                    <a:pt x="1110550" y="910607"/>
                  </a:cubicBezTo>
                  <a:lnTo>
                    <a:pt x="15219" y="910607"/>
                  </a:lnTo>
                  <a:cubicBezTo>
                    <a:pt x="6814" y="910607"/>
                    <a:pt x="0" y="903793"/>
                    <a:pt x="0" y="895388"/>
                  </a:cubicBezTo>
                  <a:lnTo>
                    <a:pt x="0" y="15219"/>
                  </a:lnTo>
                  <a:cubicBezTo>
                    <a:pt x="0" y="6814"/>
                    <a:pt x="6814" y="0"/>
                    <a:pt x="15219" y="0"/>
                  </a:cubicBezTo>
                  <a:close/>
                </a:path>
              </a:pathLst>
            </a:custGeom>
            <a:solidFill>
              <a:srgbClr val="F5F5F5"/>
            </a:solidFill>
            <a:ln cap="sq" cmpd="sng" w="95250">
              <a:solidFill>
                <a:srgbClr val="1071C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5"/>
            <p:cNvSpPr txBox="1"/>
            <p:nvPr/>
          </p:nvSpPr>
          <p:spPr>
            <a:xfrm>
              <a:off x="0" y="-76200"/>
              <a:ext cx="1125769" cy="9868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050" lIns="67050" spcFirstLastPara="1" rIns="67050" wrap="square" tIns="67050">
              <a:noAutofit/>
            </a:bodyPr>
            <a:lstStyle/>
            <a:p>
              <a:pPr indent="0" lvl="0" marL="0" marR="0" rtl="0" algn="ctr">
                <a:lnSpc>
                  <a:spcPct val="281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5"/>
          <p:cNvSpPr/>
          <p:nvPr/>
        </p:nvSpPr>
        <p:spPr>
          <a:xfrm>
            <a:off x="11469855" y="1028700"/>
            <a:ext cx="5789445" cy="8229600"/>
          </a:xfrm>
          <a:custGeom>
            <a:rect b="b" l="l" r="r" t="t"/>
            <a:pathLst>
              <a:path extrusionOk="0" h="1274980" w="896936">
                <a:moveTo>
                  <a:pt x="30757" y="0"/>
                </a:moveTo>
                <a:lnTo>
                  <a:pt x="866180" y="0"/>
                </a:lnTo>
                <a:cubicBezTo>
                  <a:pt x="874337" y="0"/>
                  <a:pt x="882160" y="3240"/>
                  <a:pt x="887928" y="9008"/>
                </a:cubicBezTo>
                <a:cubicBezTo>
                  <a:pt x="893696" y="14776"/>
                  <a:pt x="896936" y="22600"/>
                  <a:pt x="896936" y="30757"/>
                </a:cubicBezTo>
                <a:lnTo>
                  <a:pt x="896936" y="1244224"/>
                </a:lnTo>
                <a:cubicBezTo>
                  <a:pt x="896936" y="1261210"/>
                  <a:pt x="883166" y="1274980"/>
                  <a:pt x="866180" y="1274980"/>
                </a:cubicBezTo>
                <a:lnTo>
                  <a:pt x="30757" y="1274980"/>
                </a:lnTo>
                <a:cubicBezTo>
                  <a:pt x="13770" y="1274980"/>
                  <a:pt x="0" y="1261210"/>
                  <a:pt x="0" y="1244224"/>
                </a:cubicBezTo>
                <a:lnTo>
                  <a:pt x="0" y="30757"/>
                </a:lnTo>
                <a:cubicBezTo>
                  <a:pt x="0" y="22600"/>
                  <a:pt x="3240" y="14776"/>
                  <a:pt x="9008" y="9008"/>
                </a:cubicBezTo>
                <a:cubicBezTo>
                  <a:pt x="14776" y="3240"/>
                  <a:pt x="22600" y="0"/>
                  <a:pt x="30757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08" l="0" r="0" t="-560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1480450" y="1581459"/>
            <a:ext cx="9456342" cy="713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82" u="none" cap="none" strike="noStrike">
                <a:solidFill>
                  <a:srgbClr val="1071CB"/>
                </a:solidFill>
                <a:latin typeface="Roboto Mono"/>
                <a:ea typeface="Roboto Mono"/>
                <a:cs typeface="Roboto Mono"/>
                <a:sym typeface="Roboto Mono"/>
              </a:rPr>
              <a:t>CONTADOR MECÂNICO (1694)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1480450" y="2818531"/>
            <a:ext cx="9062803" cy="468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0637" lvl="1" marL="721274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•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Cilindro com dentes de tamanhos variados.</a:t>
            </a:r>
            <a:endParaRPr/>
          </a:p>
          <a:p>
            <a:pPr indent="-360637" lvl="1" marL="721274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•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Permitia operações complexas com giros da manivela.</a:t>
            </a:r>
            <a:endParaRPr/>
          </a:p>
          <a:p>
            <a:pPr indent="-360637" lvl="1" marL="721274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•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Exemplo: 825×3 → 3 giros no sentido horário.</a:t>
            </a:r>
            <a:endParaRPr/>
          </a:p>
          <a:p>
            <a:pPr indent="-360637" lvl="1" marL="721274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•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Multiplicações grandes exigiam vários posicionamentos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CCE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6"/>
          <p:cNvGrpSpPr/>
          <p:nvPr/>
        </p:nvGrpSpPr>
        <p:grpSpPr>
          <a:xfrm>
            <a:off x="1028700" y="340043"/>
            <a:ext cx="16230600" cy="8918257"/>
            <a:chOff x="0" y="-76200"/>
            <a:chExt cx="1795920" cy="986807"/>
          </a:xfrm>
        </p:grpSpPr>
        <p:sp>
          <p:nvSpPr>
            <p:cNvPr id="159" name="Google Shape;159;p6"/>
            <p:cNvSpPr/>
            <p:nvPr/>
          </p:nvSpPr>
          <p:spPr>
            <a:xfrm>
              <a:off x="0" y="0"/>
              <a:ext cx="1795920" cy="910607"/>
            </a:xfrm>
            <a:custGeom>
              <a:rect b="b" l="l" r="r" t="t"/>
              <a:pathLst>
                <a:path extrusionOk="0" h="910607" w="1795920">
                  <a:moveTo>
                    <a:pt x="9540" y="0"/>
                  </a:moveTo>
                  <a:lnTo>
                    <a:pt x="1786380" y="0"/>
                  </a:lnTo>
                  <a:cubicBezTo>
                    <a:pt x="1791648" y="0"/>
                    <a:pt x="1795920" y="4271"/>
                    <a:pt x="1795920" y="9540"/>
                  </a:cubicBezTo>
                  <a:lnTo>
                    <a:pt x="1795920" y="901067"/>
                  </a:lnTo>
                  <a:cubicBezTo>
                    <a:pt x="1795920" y="903597"/>
                    <a:pt x="1794914" y="906024"/>
                    <a:pt x="1793125" y="907813"/>
                  </a:cubicBezTo>
                  <a:cubicBezTo>
                    <a:pt x="1791336" y="909602"/>
                    <a:pt x="1788910" y="910607"/>
                    <a:pt x="1786380" y="910607"/>
                  </a:cubicBezTo>
                  <a:lnTo>
                    <a:pt x="9540" y="910607"/>
                  </a:lnTo>
                  <a:cubicBezTo>
                    <a:pt x="4271" y="910607"/>
                    <a:pt x="0" y="906336"/>
                    <a:pt x="0" y="901067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F5F5F5"/>
            </a:solidFill>
            <a:ln cap="sq" cmpd="sng" w="95250">
              <a:solidFill>
                <a:srgbClr val="1071C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0" y="-76200"/>
              <a:ext cx="1795920" cy="9868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050" lIns="67050" spcFirstLastPara="1" rIns="67050" wrap="square" tIns="67050">
              <a:noAutofit/>
            </a:bodyPr>
            <a:lstStyle/>
            <a:p>
              <a:pPr indent="0" lvl="0" marL="0" marR="0" rtl="0" algn="ctr">
                <a:lnSpc>
                  <a:spcPct val="281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6"/>
          <p:cNvSpPr/>
          <p:nvPr/>
        </p:nvSpPr>
        <p:spPr>
          <a:xfrm>
            <a:off x="11135858" y="4324136"/>
            <a:ext cx="5789445" cy="4577901"/>
          </a:xfrm>
          <a:custGeom>
            <a:rect b="b" l="l" r="r" t="t"/>
            <a:pathLst>
              <a:path extrusionOk="0" h="709237" w="896936">
                <a:moveTo>
                  <a:pt x="30757" y="0"/>
                </a:moveTo>
                <a:lnTo>
                  <a:pt x="866180" y="0"/>
                </a:lnTo>
                <a:cubicBezTo>
                  <a:pt x="874337" y="0"/>
                  <a:pt x="882160" y="3240"/>
                  <a:pt x="887928" y="9008"/>
                </a:cubicBezTo>
                <a:cubicBezTo>
                  <a:pt x="893696" y="14776"/>
                  <a:pt x="896936" y="22600"/>
                  <a:pt x="896936" y="30757"/>
                </a:cubicBezTo>
                <a:lnTo>
                  <a:pt x="896936" y="678480"/>
                </a:lnTo>
                <a:cubicBezTo>
                  <a:pt x="896936" y="695466"/>
                  <a:pt x="883166" y="709237"/>
                  <a:pt x="866180" y="709237"/>
                </a:cubicBezTo>
                <a:lnTo>
                  <a:pt x="30757" y="709237"/>
                </a:lnTo>
                <a:cubicBezTo>
                  <a:pt x="22600" y="709237"/>
                  <a:pt x="14776" y="705996"/>
                  <a:pt x="9008" y="700228"/>
                </a:cubicBezTo>
                <a:cubicBezTo>
                  <a:pt x="3240" y="694460"/>
                  <a:pt x="0" y="686637"/>
                  <a:pt x="0" y="678480"/>
                </a:cubicBezTo>
                <a:lnTo>
                  <a:pt x="0" y="30757"/>
                </a:lnTo>
                <a:cubicBezTo>
                  <a:pt x="0" y="22600"/>
                  <a:pt x="3240" y="14776"/>
                  <a:pt x="9008" y="9008"/>
                </a:cubicBezTo>
                <a:cubicBezTo>
                  <a:pt x="14776" y="3240"/>
                  <a:pt x="22600" y="0"/>
                  <a:pt x="30757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589" l="0" r="0" t="-458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1480450" y="1581459"/>
            <a:ext cx="9456342" cy="713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82" u="none" cap="none" strike="noStrike">
                <a:solidFill>
                  <a:srgbClr val="1071CB"/>
                </a:solidFill>
                <a:latin typeface="Roboto Mono"/>
                <a:ea typeface="Roboto Mono"/>
                <a:cs typeface="Roboto Mono"/>
                <a:sym typeface="Roboto Mono"/>
              </a:rPr>
              <a:t>O CILINDRO ESCALONADO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1480450" y="2818531"/>
            <a:ext cx="8439342" cy="468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0637" lvl="1" marL="721274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•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Cilindro com dentes de tamanhos variados.</a:t>
            </a:r>
            <a:endParaRPr/>
          </a:p>
          <a:p>
            <a:pPr indent="-360637" lvl="1" marL="721274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•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Permitia operações complexas com giros da manivela.</a:t>
            </a:r>
            <a:endParaRPr/>
          </a:p>
          <a:p>
            <a:pPr indent="-360637" lvl="1" marL="721274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•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Exemplo: 825×3 → 3 giros no sentido horário.</a:t>
            </a:r>
            <a:endParaRPr/>
          </a:p>
          <a:p>
            <a:pPr indent="-360637" lvl="1" marL="721274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Clr>
                <a:srgbClr val="282325"/>
              </a:buClr>
              <a:buSzPts val="3340"/>
              <a:buFont typeface="Arial"/>
              <a:buChar char="•"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Multiplicações grandes exigiam vários posicionamentos.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CCE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7"/>
          <p:cNvGrpSpPr/>
          <p:nvPr/>
        </p:nvGrpSpPr>
        <p:grpSpPr>
          <a:xfrm>
            <a:off x="1028700" y="340043"/>
            <a:ext cx="16230600" cy="8918257"/>
            <a:chOff x="0" y="-76200"/>
            <a:chExt cx="1795920" cy="986807"/>
          </a:xfrm>
        </p:grpSpPr>
        <p:sp>
          <p:nvSpPr>
            <p:cNvPr id="169" name="Google Shape;169;p7"/>
            <p:cNvSpPr/>
            <p:nvPr/>
          </p:nvSpPr>
          <p:spPr>
            <a:xfrm>
              <a:off x="0" y="0"/>
              <a:ext cx="1795920" cy="910607"/>
            </a:xfrm>
            <a:custGeom>
              <a:rect b="b" l="l" r="r" t="t"/>
              <a:pathLst>
                <a:path extrusionOk="0" h="910607" w="1795920">
                  <a:moveTo>
                    <a:pt x="9540" y="0"/>
                  </a:moveTo>
                  <a:lnTo>
                    <a:pt x="1786380" y="0"/>
                  </a:lnTo>
                  <a:cubicBezTo>
                    <a:pt x="1791648" y="0"/>
                    <a:pt x="1795920" y="4271"/>
                    <a:pt x="1795920" y="9540"/>
                  </a:cubicBezTo>
                  <a:lnTo>
                    <a:pt x="1795920" y="901067"/>
                  </a:lnTo>
                  <a:cubicBezTo>
                    <a:pt x="1795920" y="903597"/>
                    <a:pt x="1794914" y="906024"/>
                    <a:pt x="1793125" y="907813"/>
                  </a:cubicBezTo>
                  <a:cubicBezTo>
                    <a:pt x="1791336" y="909602"/>
                    <a:pt x="1788910" y="910607"/>
                    <a:pt x="1786380" y="910607"/>
                  </a:cubicBezTo>
                  <a:lnTo>
                    <a:pt x="9540" y="910607"/>
                  </a:lnTo>
                  <a:cubicBezTo>
                    <a:pt x="4271" y="910607"/>
                    <a:pt x="0" y="906336"/>
                    <a:pt x="0" y="901067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F5F5F5"/>
            </a:solidFill>
            <a:ln cap="sq" cmpd="sng" w="95250">
              <a:solidFill>
                <a:srgbClr val="1071C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7"/>
            <p:cNvSpPr txBox="1"/>
            <p:nvPr/>
          </p:nvSpPr>
          <p:spPr>
            <a:xfrm>
              <a:off x="0" y="-76200"/>
              <a:ext cx="1795920" cy="9868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050" lIns="67050" spcFirstLastPara="1" rIns="67050" wrap="square" tIns="67050">
              <a:noAutofit/>
            </a:bodyPr>
            <a:lstStyle/>
            <a:p>
              <a:pPr indent="0" lvl="0" marL="0" marR="0" rtl="0" algn="ctr">
                <a:lnSpc>
                  <a:spcPct val="281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7"/>
          <p:cNvSpPr txBox="1"/>
          <p:nvPr/>
        </p:nvSpPr>
        <p:spPr>
          <a:xfrm>
            <a:off x="1480450" y="1581459"/>
            <a:ext cx="15778850" cy="713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82" u="none" cap="none" strike="noStrike">
                <a:solidFill>
                  <a:srgbClr val="1071CB"/>
                </a:solidFill>
                <a:latin typeface="Roboto Mono"/>
                <a:ea typeface="Roboto Mono"/>
                <a:cs typeface="Roboto Mono"/>
                <a:sym typeface="Roboto Mono"/>
              </a:rPr>
              <a:t>REFERÊNCIAS</a:t>
            </a:r>
            <a:endParaRPr/>
          </a:p>
        </p:txBody>
      </p:sp>
      <p:sp>
        <p:nvSpPr>
          <p:cNvPr id="172" name="Google Shape;172;p7"/>
          <p:cNvSpPr txBox="1"/>
          <p:nvPr/>
        </p:nvSpPr>
        <p:spPr>
          <a:xfrm>
            <a:off x="4924329" y="4252478"/>
            <a:ext cx="8439342" cy="1734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40" u="none" cap="none" strike="noStrike">
                <a:solidFill>
                  <a:srgbClr val="282325"/>
                </a:solidFill>
                <a:latin typeface="Roboto Mono"/>
                <a:ea typeface="Roboto Mono"/>
                <a:cs typeface="Roboto Mono"/>
                <a:sym typeface="Roboto Mono"/>
              </a:rPr>
              <a:t>WAZLAWICK, Raul Sidnei. História da computação. 2. ed. Florianópolis: Visual Books, 2009.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